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4"/>
  </p:sldMasterIdLst>
  <p:notesMasterIdLst>
    <p:notesMasterId r:id="rId18"/>
  </p:notesMasterIdLst>
  <p:sldIdLst>
    <p:sldId id="292" r:id="rId5"/>
    <p:sldId id="335" r:id="rId6"/>
    <p:sldId id="349" r:id="rId7"/>
    <p:sldId id="355" r:id="rId8"/>
    <p:sldId id="356" r:id="rId9"/>
    <p:sldId id="357" r:id="rId10"/>
    <p:sldId id="348" r:id="rId11"/>
    <p:sldId id="351" r:id="rId12"/>
    <p:sldId id="350" r:id="rId13"/>
    <p:sldId id="352" r:id="rId14"/>
    <p:sldId id="358" r:id="rId15"/>
    <p:sldId id="353" r:id="rId16"/>
    <p:sldId id="35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  <a:srgbClr val="FDF0D3"/>
    <a:srgbClr val="F7F0FE"/>
    <a:srgbClr val="FEFBDE"/>
    <a:srgbClr val="FCE9C0"/>
    <a:srgbClr val="FADEC2"/>
    <a:srgbClr val="FAF4E2"/>
    <a:srgbClr val="F5E8D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305" autoAdjust="0"/>
  </p:normalViewPr>
  <p:slideViewPr>
    <p:cSldViewPr snapToGrid="0">
      <p:cViewPr varScale="1">
        <p:scale>
          <a:sx n="99" d="100"/>
          <a:sy n="99" d="100"/>
        </p:scale>
        <p:origin x="9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264123-C350-4D28-B251-FCF1735571D2}" type="datetimeFigureOut">
              <a:rPr lang="en-CA" smtClean="0"/>
              <a:t>2026-06-01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82110-8E65-4961-8603-784124375E1D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3807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err="1"/>
              <a:t>Completer</a:t>
            </a:r>
            <a:r>
              <a:rPr lang="fr-CA"/>
              <a:t> un protocole de correction d’erreur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82110-8E65-4961-8603-784124375E1D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8782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work suggests quantum may help with </a:t>
            </a:r>
            <a:r>
              <a:rPr lang="en-US" b="0" dirty="0"/>
              <a:t>data compression / feature extraction / representation learning</a:t>
            </a:r>
            <a:r>
              <a:rPr lang="en-US" dirty="0"/>
              <a:t>, not directly “making better images.”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“quantum oracle sketching” processes classical samples on the fly instead of loading/storing the whole dataset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82110-8E65-4961-8603-784124375E1D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474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 err="1"/>
              <a:t>Using</a:t>
            </a:r>
            <a:r>
              <a:rPr lang="fr-CA" dirty="0"/>
              <a:t> top </a:t>
            </a:r>
            <a:r>
              <a:rPr lang="fr-CA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discrete</a:t>
            </a:r>
            <a:r>
              <a:rPr lang="fr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CA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cosine</a:t>
            </a:r>
            <a:r>
              <a:rPr lang="fr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CA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</a:t>
            </a:r>
            <a:r>
              <a:rPr lang="fr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CA" dirty="0"/>
              <a:t>coefficient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82110-8E65-4961-8603-784124375E1D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6173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7E6DA-7C24-304F-FE7B-29693687F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A32D305-3027-4563-6C32-73EB46AD7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A45F90E-5ACE-0702-8BE8-0974BCB02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full image -&gt; randomly choose k pixel positions -&gt; keep only those k pixel intensities</a:t>
            </a:r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A3EB1CF-FF49-1D7D-68A7-1C85C07142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82110-8E65-4961-8603-784124375E1D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2157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 err="1"/>
              <a:t>Using</a:t>
            </a:r>
            <a:r>
              <a:rPr lang="fr-CA" dirty="0"/>
              <a:t> top k DCT coefficient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82110-8E65-4961-8603-784124375E1D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8783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D9169-62B7-FE15-9632-35F8C5012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9E8130E-D4A1-092B-DA4F-5D9245977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39460B3-A26C-0624-3AD2-9E664F594B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full image -&gt; randomly choose k pixel positions -&gt; keep only those k pixel intensities</a:t>
            </a:r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96350A-8CC2-9F6D-781E-B98890B6EA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82110-8E65-4961-8603-784124375E1D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6245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6A4C-A5E3-D5C1-0EC1-68947CD1B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B8DB20-A5DD-66C6-43C5-ABBD6E6A8F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21F2E-66C9-BA3E-2557-FC8FFA461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C0817-A112-4847-8014-A94B7D2A4EA3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335BA-1D4C-EAED-C30A-C69E23396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F5F21-1BEA-CFB9-8AE2-1E4DDB480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46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3DFB8-7948-5593-9F03-4E4FB26B0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CE6C4-3B56-92F5-1ADF-0EC1F02EE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B44FD-18FD-F2D2-0F50-6DCB08D38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5568D-69E1-D64C-69D4-6D21AE076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65F8D-4B17-5ED2-857A-685B867AC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810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72B52-CAF8-BC65-31C1-8D5A50C8D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ED7D5-9D09-6715-9FDB-BC1BB0C6E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BD478-5258-221D-4031-D9BE367FB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646AA-F36E-4540-911D-FFFC0A0EF24A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9A291-3FB0-2E34-A1CB-0C96AF6FF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30B2A-EC00-68EE-AF90-0D0A6E375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16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90342-C74A-0AA0-0092-BF301C7B0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86248-CB23-A1C6-68DB-9EB47240E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4F7EF-78DF-EB52-C78D-ABADEB6AE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775B2-2B10-F872-0AC0-821E4C04E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0A69B3-438C-BB5E-5258-48B890B57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63183-DAF3-3873-53EB-D509B1FFA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77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F8608-E378-93BE-DE59-B360DA132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C560F-F108-2C1E-43A7-437C06290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5B450-08B3-42B9-265B-F984995E6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A33843-4F0E-F8BC-A5FC-4BD462CACA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F1E6E9-70AB-05A0-8FAC-7FF6738422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17C456-95D6-EEC4-FFE8-3E535826E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81FF5D-B298-EC22-5E2A-F94F04C0C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D6AC6D-F03F-4AF7-3863-67752B067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948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1867A-4241-3F18-6ABF-6CBE126C9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FF8139-FD87-0AFA-21C5-830BB88BC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D21253-01F6-3696-D14A-19A648706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87EDE9-8D5D-ADE9-C8A0-DBFB3B93F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92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F9186-D8ED-F385-3692-FDEC83273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060D43-4337-8E97-5D94-13BA3BEBA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AEBFF-EC8D-043E-B81A-02B24EB2F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9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483F6-A977-665E-04D4-DF6C04C1B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75A3B-0B35-81D7-B166-98E3636D8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339582-0C98-96AD-CDB5-6ACCF07047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D689B-8015-145C-C5F5-F9BF8EE24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12A6-918A-48BD-8CB9-CA713993B0EA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20508-C9EA-B060-2651-64D25719C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894B63-94BF-C801-8B2D-561DE2533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030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EF2F7-D473-7250-80B9-71AC21BD8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B34130-07CE-F833-E5D6-C8100EA04A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421F3A-A020-F11E-F4D2-AEB619DF5F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92C21-2B1D-2B2D-7D6D-76DA77B20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CE86-875F-4587-BCF6-FA054AFC0D53}" type="datetime1">
              <a:rPr lang="en-US" smtClean="0"/>
              <a:pPr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214855-79A4-E7DC-071A-713F7FB31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A8653-0D82-B962-3D20-F4ECD4C48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092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BB9EC-E0E4-0B56-492F-B0586E2C2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A29E28-4E57-1B36-F3C4-B53FE7B33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03FF5-1563-06B9-DFCD-296987295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E6CA4-A547-4A2C-22B5-2C1F2235F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9747E-0839-484B-A7F9-B345607E0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95214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D7FE73-5B88-1310-9A21-EF4DD85857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26C15D-9DD1-BDE6-AA41-D480ED78A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E9553-C3D8-7536-903D-E0F687A66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CD983-888E-104D-618F-3952CF434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3742D-5B50-0420-C045-CCF6592B9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62636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5000">
              <a:srgbClr val="FDF0D3"/>
            </a:gs>
            <a:gs pos="0">
              <a:srgbClr val="F7F0FE"/>
            </a:gs>
            <a:gs pos="100000">
              <a:srgbClr val="FEFBDE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FF5372-88EA-3B83-E5BE-81DB49264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D2A0F-47D3-B1BF-BC22-95C2D4C52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C56E6-74D0-388D-EB70-516E359AEC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43D7A-BD54-B289-BF3A-EF05D11AA9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9FD69-4F07-D4C6-CCF7-672DEBCB8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627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imengzhao/quantum-oracle-sketching/tree/mai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arxiv.org/pdf/2604.07639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BA1780-A246-4C7F-9267-727EF2F4E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46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D7398C-75E5-4CB0-BA4F-D7D5CF249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678" y="51842"/>
            <a:ext cx="10785890" cy="175669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n-lt"/>
              </a:rPr>
              <a:t>Biomedical image analysis using a quantum computer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5BFB45-FC34-495C-9C68-F9641246C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3700" y="1808532"/>
            <a:ext cx="4775075" cy="559656"/>
          </a:xfrm>
        </p:spPr>
        <p:txBody>
          <a:bodyPr>
            <a:normAutofit/>
          </a:bodyPr>
          <a:lstStyle/>
          <a:p>
            <a:r>
              <a:rPr lang="en-US" sz="2000" dirty="0" err="1">
                <a:solidFill>
                  <a:schemeClr val="bg1"/>
                </a:solidFill>
              </a:rPr>
              <a:t>IQuCodeFest</a:t>
            </a:r>
            <a:r>
              <a:rPr lang="en-US" sz="2000" dirty="0">
                <a:solidFill>
                  <a:schemeClr val="bg1"/>
                </a:solidFill>
              </a:rPr>
              <a:t>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77F65F-0C66-319B-FD2F-1A47B01657C5}"/>
              </a:ext>
            </a:extLst>
          </p:cNvPr>
          <p:cNvSpPr txBox="1"/>
          <p:nvPr/>
        </p:nvSpPr>
        <p:spPr>
          <a:xfrm>
            <a:off x="2796499" y="2425228"/>
            <a:ext cx="6599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https://github.com/algolab-iqucodefest/iqucodefest-2026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74594D-8786-BC8D-A4C0-54E768498EA4}"/>
              </a:ext>
            </a:extLst>
          </p:cNvPr>
          <p:cNvSpPr txBox="1"/>
          <p:nvPr/>
        </p:nvSpPr>
        <p:spPr>
          <a:xfrm>
            <a:off x="194553" y="5593464"/>
            <a:ext cx="49221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Samuel Richard</a:t>
            </a:r>
          </a:p>
          <a:p>
            <a:r>
              <a:rPr lang="fr-CA" dirty="0"/>
              <a:t>Guy-Philippe Nadon</a:t>
            </a:r>
          </a:p>
          <a:p>
            <a:r>
              <a:rPr lang="fr-CA" dirty="0"/>
              <a:t>Jacob Bernier</a:t>
            </a:r>
          </a:p>
          <a:p>
            <a:r>
              <a:rPr lang="fr-CA" dirty="0"/>
              <a:t>Victor Rochon</a:t>
            </a:r>
          </a:p>
        </p:txBody>
      </p:sp>
    </p:spTree>
    <p:extLst>
      <p:ext uri="{BB962C8B-B14F-4D97-AF65-F5344CB8AC3E}">
        <p14:creationId xmlns:p14="http://schemas.microsoft.com/office/powerpoint/2010/main" val="2152082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11A673-F756-8B6F-4A0F-04986603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err="1"/>
              <a:t>Presentation</a:t>
            </a:r>
            <a:r>
              <a:rPr lang="fr-CA"/>
              <a:t> Plan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4EE702-063A-9CA1-2672-734E59A26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Quantum </a:t>
            </a:r>
            <a:r>
              <a:rPr lang="fr-CA" dirty="0" err="1"/>
              <a:t>Sketching</a:t>
            </a:r>
            <a:endParaRPr lang="fr-CA" dirty="0"/>
          </a:p>
          <a:p>
            <a:r>
              <a:rPr lang="fr-CA" dirty="0"/>
              <a:t>Quantum </a:t>
            </a:r>
            <a:r>
              <a:rPr lang="fr-CA" dirty="0" err="1"/>
              <a:t>Sketching</a:t>
            </a:r>
            <a:r>
              <a:rPr lang="fr-CA" dirty="0"/>
              <a:t> </a:t>
            </a:r>
            <a:r>
              <a:rPr lang="fr-CA" dirty="0" err="1"/>
              <a:t>Experiments</a:t>
            </a:r>
            <a:endParaRPr lang="fr-CA" dirty="0"/>
          </a:p>
          <a:p>
            <a:r>
              <a:rPr lang="fr-CA" dirty="0"/>
              <a:t>QCNN</a:t>
            </a:r>
          </a:p>
        </p:txBody>
      </p:sp>
    </p:spTree>
    <p:extLst>
      <p:ext uri="{BB962C8B-B14F-4D97-AF65-F5344CB8AC3E}">
        <p14:creationId xmlns:p14="http://schemas.microsoft.com/office/powerpoint/2010/main" val="3402187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B862D1-A59A-4AB8-2A82-CEAB2E0F4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Quantum </a:t>
            </a:r>
            <a:r>
              <a:rPr lang="fr-CA" dirty="0" err="1"/>
              <a:t>Sketching</a:t>
            </a:r>
            <a:r>
              <a:rPr lang="fr-CA" dirty="0"/>
              <a:t> </a:t>
            </a:r>
            <a:r>
              <a:rPr lang="fr-CA" dirty="0" err="1"/>
              <a:t>Attempt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C10B97-9D8B-7463-CBD4-CD93749B4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22255" cy="4351338"/>
          </a:xfrm>
        </p:spPr>
        <p:txBody>
          <a:bodyPr/>
          <a:lstStyle/>
          <a:p>
            <a:r>
              <a:rPr lang="fr-CA" dirty="0">
                <a:hlinkClick r:id="rId3"/>
              </a:rPr>
              <a:t>https://github.com/haimengzhao/quantum-oracle-sketching/tree/main</a:t>
            </a:r>
            <a:endParaRPr lang="fr-CA" dirty="0"/>
          </a:p>
          <a:p>
            <a:r>
              <a:rPr lang="fr-CA" dirty="0">
                <a:hlinkClick r:id="rId4"/>
              </a:rPr>
              <a:t>https://arxiv.org/pdf/2604.07639</a:t>
            </a:r>
            <a:endParaRPr lang="fr-CA" dirty="0"/>
          </a:p>
          <a:p>
            <a:endParaRPr lang="fr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79817D4-61AD-9D81-6049-27E5D56C16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1" y="3993145"/>
            <a:ext cx="5945204" cy="285350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5AD57F9-4786-59B6-A1C3-8B94722D51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546" y="2771665"/>
            <a:ext cx="6371706" cy="2459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148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CA8B78-BABB-02B7-AE00-9A8BE02BA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Classical</a:t>
            </a:r>
            <a:r>
              <a:rPr lang="fr-CA" dirty="0"/>
              <a:t> Shadow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2A06E05-D0F6-AC63-EC9F-CE0585217F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16745"/>
            <a:ext cx="10515600" cy="3303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7ABBCD5D-81C6-CA70-85F5-7373EB23C804}"/>
              </a:ext>
            </a:extLst>
          </p:cNvPr>
          <p:cNvSpPr txBox="1"/>
          <p:nvPr/>
        </p:nvSpPr>
        <p:spPr>
          <a:xfrm>
            <a:off x="3070459" y="5958038"/>
            <a:ext cx="6660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From https://pennylane.ai/demos/tutorial_classical_shadows</a:t>
            </a:r>
          </a:p>
        </p:txBody>
      </p:sp>
    </p:spTree>
    <p:extLst>
      <p:ext uri="{BB962C8B-B14F-4D97-AF65-F5344CB8AC3E}">
        <p14:creationId xmlns:p14="http://schemas.microsoft.com/office/powerpoint/2010/main" val="402168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FD05B2-758C-12E6-14E2-3A45A4187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Interferometric</a:t>
            </a:r>
            <a:r>
              <a:rPr lang="fr-CA" dirty="0"/>
              <a:t> </a:t>
            </a:r>
            <a:r>
              <a:rPr lang="fr-CA" dirty="0" err="1"/>
              <a:t>classical</a:t>
            </a:r>
            <a:r>
              <a:rPr lang="fr-CA" dirty="0"/>
              <a:t> </a:t>
            </a:r>
            <a:r>
              <a:rPr lang="fr-CA" dirty="0" err="1"/>
              <a:t>shadow</a:t>
            </a:r>
            <a:endParaRPr lang="fr-CA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30AD3E6-28B4-037B-8651-FB5A99902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79361"/>
            <a:ext cx="10603832" cy="371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791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E1040-90D3-41FC-3D09-4F29F7394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E85D8B-D387-B6A7-D054-CAE3CB168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Interferometric</a:t>
            </a:r>
            <a:r>
              <a:rPr lang="fr-CA" dirty="0"/>
              <a:t> </a:t>
            </a:r>
            <a:r>
              <a:rPr lang="fr-CA" dirty="0" err="1"/>
              <a:t>classical</a:t>
            </a:r>
            <a:r>
              <a:rPr lang="fr-CA" dirty="0"/>
              <a:t> </a:t>
            </a:r>
            <a:r>
              <a:rPr lang="fr-CA" dirty="0" err="1"/>
              <a:t>shadow</a:t>
            </a:r>
            <a:endParaRPr lang="fr-CA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50DAE23-3437-7C7A-DE2A-4C2F478CA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36700"/>
            <a:ext cx="12192000" cy="378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B95BA36-AA3E-FE57-38AB-DB1ADF2B4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2421" y="1882458"/>
            <a:ext cx="3149594" cy="324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621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B431B2-3E3F-1E8D-1990-21F106B0B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26030" cy="1325563"/>
          </a:xfrm>
        </p:spPr>
        <p:txBody>
          <a:bodyPr/>
          <a:lstStyle/>
          <a:p>
            <a:r>
              <a:rPr lang="fr-CA" dirty="0"/>
              <a:t>Quantum </a:t>
            </a:r>
            <a:r>
              <a:rPr lang="fr-CA" dirty="0" err="1"/>
              <a:t>Sketching</a:t>
            </a:r>
            <a:r>
              <a:rPr lang="fr-CA" dirty="0"/>
              <a:t> k = 12, </a:t>
            </a:r>
            <a:r>
              <a:rPr lang="fr-CA" dirty="0" err="1"/>
              <a:t>with</a:t>
            </a:r>
            <a:r>
              <a:rPr lang="fr-CA" dirty="0"/>
              <a:t> top coefficient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0EC588E-09C7-F7C0-B992-F93D7EF5B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555562"/>
            <a:ext cx="7315978" cy="268048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5E1CC30-F5DB-4DCC-0DA6-80F29607B5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2771" y="4322127"/>
            <a:ext cx="6741459" cy="243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557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6F139-C67D-C10C-E8F4-5366BF078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09B897-8E08-8CB2-CB4B-79EA39642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26030" cy="1325563"/>
          </a:xfrm>
        </p:spPr>
        <p:txBody>
          <a:bodyPr/>
          <a:lstStyle/>
          <a:p>
            <a:r>
              <a:rPr lang="fr-CA" dirty="0"/>
              <a:t>Quantum </a:t>
            </a:r>
            <a:r>
              <a:rPr lang="fr-CA" dirty="0" err="1"/>
              <a:t>Sketching</a:t>
            </a:r>
            <a:r>
              <a:rPr lang="fr-CA" dirty="0"/>
              <a:t> k = 12, </a:t>
            </a:r>
            <a:r>
              <a:rPr lang="fr-CA" dirty="0" err="1"/>
              <a:t>random</a:t>
            </a:r>
            <a:endParaRPr lang="fr-CA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EA923E6-7BA6-A7FF-CDBD-AE111F5E8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70" y="1588737"/>
            <a:ext cx="6994925" cy="257016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E722B60-C5BC-D289-6A57-9BBE675C6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9621" y="4235897"/>
            <a:ext cx="6962732" cy="249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24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D95700-ACC7-7533-B900-9E56C82AD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29340" cy="1325563"/>
          </a:xfrm>
        </p:spPr>
        <p:txBody>
          <a:bodyPr/>
          <a:lstStyle/>
          <a:p>
            <a:r>
              <a:rPr lang="fr-CA" dirty="0"/>
              <a:t>Quantum </a:t>
            </a:r>
            <a:r>
              <a:rPr lang="fr-CA" dirty="0" err="1"/>
              <a:t>Sketching</a:t>
            </a:r>
            <a:r>
              <a:rPr lang="fr-CA" dirty="0"/>
              <a:t> k = 43, </a:t>
            </a:r>
            <a:r>
              <a:rPr lang="fr-CA" dirty="0" err="1"/>
              <a:t>with</a:t>
            </a:r>
            <a:r>
              <a:rPr lang="fr-CA" dirty="0"/>
              <a:t> top coefficient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DC2E570-3442-C6C1-9ACA-6723C40E4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60" y="1518549"/>
            <a:ext cx="7421746" cy="267903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92D39D2-332B-A28D-115F-4B1800EE3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7642" y="4306066"/>
            <a:ext cx="6869898" cy="246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928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3880E-C18C-A165-B48C-6FC0035C1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0B041F-589E-D7D4-2E35-D52D1000C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Quantum </a:t>
            </a:r>
            <a:r>
              <a:rPr lang="fr-CA" dirty="0" err="1"/>
              <a:t>Sketching</a:t>
            </a:r>
            <a:r>
              <a:rPr lang="fr-CA" dirty="0"/>
              <a:t> k = 43, </a:t>
            </a:r>
            <a:r>
              <a:rPr lang="fr-CA" dirty="0" err="1"/>
              <a:t>random</a:t>
            </a:r>
            <a:endParaRPr lang="fr-CA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843DD3B-E6D0-56F7-77E8-0F011D03A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272" y="4377370"/>
            <a:ext cx="6706268" cy="241124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D43385D-10C4-D5CF-0BDA-6E2123C98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520" y="1502209"/>
            <a:ext cx="7625288" cy="277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694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FC8459-A82D-59DE-03D4-C09E78398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Quantum </a:t>
            </a:r>
            <a:r>
              <a:rPr lang="fr-CA" dirty="0" err="1"/>
              <a:t>Convolational</a:t>
            </a:r>
            <a:r>
              <a:rPr lang="fr-CA" dirty="0"/>
              <a:t> neural network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1D68585-A57F-ABBA-5794-B855723A2D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00"/>
          <a:stretch>
            <a:fillRect/>
          </a:stretch>
        </p:blipFill>
        <p:spPr>
          <a:xfrm>
            <a:off x="981776" y="1745488"/>
            <a:ext cx="9144000" cy="92664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04E4149-CB30-6770-2398-10A880AB1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662" y="2938111"/>
            <a:ext cx="3931920" cy="34290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574F480-F784-B3C2-5600-D78CDBEA8256}"/>
              </a:ext>
            </a:extLst>
          </p:cNvPr>
          <p:cNvSpPr txBox="1"/>
          <p:nvPr/>
        </p:nvSpPr>
        <p:spPr>
          <a:xfrm>
            <a:off x="680987" y="636711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/>
              <a:t>https://pennylane.ai/glossary/qcnn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A2F25B86-DE6B-7E62-1BE1-7E6A6851CCD6}"/>
              </a:ext>
            </a:extLst>
          </p:cNvPr>
          <p:cNvGrpSpPr/>
          <p:nvPr/>
        </p:nvGrpSpPr>
        <p:grpSpPr>
          <a:xfrm>
            <a:off x="6534785" y="2951199"/>
            <a:ext cx="4178968" cy="3176446"/>
            <a:chOff x="6862044" y="3004138"/>
            <a:chExt cx="4178968" cy="3176446"/>
          </a:xfrm>
        </p:grpSpPr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1F298DF1-F949-922A-CB8A-96361DF29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62044" y="3429000"/>
              <a:ext cx="4178968" cy="2751584"/>
            </a:xfrm>
            <a:prstGeom prst="rect">
              <a:avLst/>
            </a:prstGeom>
          </p:spPr>
        </p:pic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77A0940C-EBCE-8B27-8306-190290BE7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62044" y="3004138"/>
              <a:ext cx="4178968" cy="424862"/>
            </a:xfrm>
            <a:prstGeom prst="rect">
              <a:avLst/>
            </a:prstGeom>
          </p:spPr>
        </p:pic>
      </p:grpSp>
      <p:sp>
        <p:nvSpPr>
          <p:cNvPr id="16" name="ZoneTexte 15">
            <a:extLst>
              <a:ext uri="{FF2B5EF4-FFF2-40B4-BE49-F238E27FC236}">
                <a16:creationId xmlns:a16="http://schemas.microsoft.com/office/drawing/2014/main" id="{A76750A5-F301-1BAB-9DF1-5E986E4898B4}"/>
              </a:ext>
            </a:extLst>
          </p:cNvPr>
          <p:cNvSpPr txBox="1"/>
          <p:nvPr/>
        </p:nvSpPr>
        <p:spPr>
          <a:xfrm>
            <a:off x="6292515" y="6182445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/>
              <a:t>https://pennylane.ai/demos/tutorial_quanvolution</a:t>
            </a:r>
          </a:p>
        </p:txBody>
      </p:sp>
    </p:spTree>
    <p:extLst>
      <p:ext uri="{BB962C8B-B14F-4D97-AF65-F5344CB8AC3E}">
        <p14:creationId xmlns:p14="http://schemas.microsoft.com/office/powerpoint/2010/main" val="950280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50A082-C729-EA9D-617C-D15D5CDB3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Optimizer</a:t>
            </a:r>
            <a:r>
              <a:rPr lang="fr-CA" dirty="0"/>
              <a:t> </a:t>
            </a:r>
            <a:r>
              <a:rPr lang="fr-CA" dirty="0" err="1"/>
              <a:t>used</a:t>
            </a:r>
            <a:endParaRPr lang="fr-C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6762E1E-A5E7-5679-E2FC-506072732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42" y="2820202"/>
            <a:ext cx="5035058" cy="331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3724624-D120-B5CB-D322-D456C724A300}"/>
              </a:ext>
            </a:extLst>
          </p:cNvPr>
          <p:cNvSpPr txBox="1"/>
          <p:nvPr/>
        </p:nvSpPr>
        <p:spPr>
          <a:xfrm>
            <a:off x="3522846" y="6204348"/>
            <a:ext cx="5775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/>
              <a:t>Images </a:t>
            </a:r>
            <a:r>
              <a:rPr lang="fr-CA" sz="1400" dirty="0" err="1"/>
              <a:t>from</a:t>
            </a:r>
            <a:r>
              <a:rPr lang="fr-CA" sz="1400" dirty="0"/>
              <a:t> https://pennylane.ai/demos/tutorial_spsa</a:t>
            </a:r>
          </a:p>
        </p:txBody>
      </p:sp>
      <p:pic>
        <p:nvPicPr>
          <p:cNvPr id="1028" name="Picture 4" descr="$H_2$ energy from VQE using gradient descent vs. SPSA">
            <a:extLst>
              <a:ext uri="{FF2B5EF4-FFF2-40B4-BE49-F238E27FC236}">
                <a16:creationId xmlns:a16="http://schemas.microsoft.com/office/drawing/2014/main" id="{D9A9AE8A-559E-3C38-044B-A004BFFE72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1" r="7906"/>
          <a:stretch>
            <a:fillRect/>
          </a:stretch>
        </p:blipFill>
        <p:spPr bwMode="auto">
          <a:xfrm>
            <a:off x="6301324" y="2820201"/>
            <a:ext cx="4854633" cy="331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B555DC2-28A9-953D-9E81-E3812FBCF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0940" y="1690688"/>
            <a:ext cx="4535103" cy="100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061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B767FE-7D80-67B8-AC35-45B32EE71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QCNN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BD00720-75F8-8137-599E-40EBFE725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149" y="2974208"/>
            <a:ext cx="8586234" cy="27715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5DCE985-10C9-C24A-1E91-095AC3DE7C66}"/>
              </a:ext>
            </a:extLst>
          </p:cNvPr>
          <p:cNvSpPr/>
          <p:nvPr/>
        </p:nvSpPr>
        <p:spPr>
          <a:xfrm>
            <a:off x="1645920" y="4321743"/>
            <a:ext cx="8855242" cy="154966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68224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F428B9457C8246BEA697AE7148E707" ma:contentTypeVersion="16" ma:contentTypeDescription="Crée un document." ma:contentTypeScope="" ma:versionID="d7efca79de9d81bf6813c7b0c097b1f9">
  <xsd:schema xmlns:xsd="http://www.w3.org/2001/XMLSchema" xmlns:xs="http://www.w3.org/2001/XMLSchema" xmlns:p="http://schemas.microsoft.com/office/2006/metadata/properties" xmlns:ns3="04c30d47-2f26-48be-9a1c-bfaaa643761d" xmlns:ns4="e8a4aba6-df9f-461c-b6db-5b2e6ad93a73" targetNamespace="http://schemas.microsoft.com/office/2006/metadata/properties" ma:root="true" ma:fieldsID="7fb768dce1c8a4fa4a27aeefe2744281" ns3:_="" ns4:_="">
    <xsd:import namespace="04c30d47-2f26-48be-9a1c-bfaaa643761d"/>
    <xsd:import namespace="e8a4aba6-df9f-461c-b6db-5b2e6ad93a7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ObjectDetectorVersion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c30d47-2f26-48be-9a1c-bfaaa64376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8" nillable="true" ma:displayName="Tags" ma:internalName="MediaServiceAutoTags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a4aba6-df9f-461c-b6db-5b2e6ad93a73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04c30d47-2f26-48be-9a1c-bfaaa643761d" xsi:nil="true"/>
    <_activity xmlns="04c30d47-2f26-48be-9a1c-bfaaa643761d" xsi:nil="true"/>
  </documentManagement>
</p:properties>
</file>

<file path=customXml/itemProps1.xml><?xml version="1.0" encoding="utf-8"?>
<ds:datastoreItem xmlns:ds="http://schemas.openxmlformats.org/officeDocument/2006/customXml" ds:itemID="{0F1B5DD6-80C5-4002-BF38-D828F5C65ECE}">
  <ds:schemaRefs>
    <ds:schemaRef ds:uri="04c30d47-2f26-48be-9a1c-bfaaa643761d"/>
    <ds:schemaRef ds:uri="e8a4aba6-df9f-461c-b6db-5b2e6ad93a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E2713E1-6312-427E-BFCB-C5A5DA30137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F3B215-496E-4790-A364-7C1C46DEC771}">
  <ds:schemaRefs>
    <ds:schemaRef ds:uri="http://schemas.openxmlformats.org/package/2006/metadata/core-properties"/>
    <ds:schemaRef ds:uri="e8a4aba6-df9f-461c-b6db-5b2e6ad93a73"/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infopath/2007/PartnerControls"/>
    <ds:schemaRef ds:uri="04c30d47-2f26-48be-9a1c-bfaaa643761d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1265</TotalTime>
  <Words>250</Words>
  <Application>Microsoft Office PowerPoint</Application>
  <PresentationFormat>Grand écran</PresentationFormat>
  <Paragraphs>41</Paragraphs>
  <Slides>13</Slides>
  <Notes>6</Notes>
  <HiddenSlides>1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Biomedical image analysis using a quantum computer</vt:lpstr>
      <vt:lpstr>Presentation Plan</vt:lpstr>
      <vt:lpstr>Quantum Sketching Attempt</vt:lpstr>
      <vt:lpstr>Classical Shadow</vt:lpstr>
      <vt:lpstr>Interferometric classical shadow</vt:lpstr>
      <vt:lpstr>Interferometric classical shadow</vt:lpstr>
      <vt:lpstr>Quantum Sketching k = 12, with top coefficient</vt:lpstr>
      <vt:lpstr>Quantum Sketching k = 12, random</vt:lpstr>
      <vt:lpstr>Quantum Sketching k = 43, with top coefficient</vt:lpstr>
      <vt:lpstr>Quantum Sketching k = 43, random</vt:lpstr>
      <vt:lpstr>Quantum Convolational neural network</vt:lpstr>
      <vt:lpstr>Optimizer used</vt:lpstr>
      <vt:lpstr>QCNN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Nadon, Guy-Philippe</dc:creator>
  <cp:lastModifiedBy>Nadon, Guy-Philippe</cp:lastModifiedBy>
  <cp:revision>4</cp:revision>
  <dcterms:created xsi:type="dcterms:W3CDTF">2026-02-01T00:11:28Z</dcterms:created>
  <dcterms:modified xsi:type="dcterms:W3CDTF">2026-06-02T11:45:27Z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0x0101008AF428B9457C8246BEA697AE7148E707</vt:lpwstr>
  </property>
</Properties>
</file>